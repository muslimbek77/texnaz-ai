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4D8"/>
                </a:solidFill>
              </a:rPr>
              <a:t>Ko'PRIKQURILISH AJ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TEXNAZ AI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65760" y="21488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0E0EF"/>
                </a:solidFill>
              </a:rPr>
              <a:t>Maxsus texnika va avtotransport vositalarining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90E0EF"/>
                </a:solidFill>
              </a:rPr>
              <a:t>yoqilg'i sarfini real vaqt rejimida monitoring qilish tizimi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3246120"/>
            <a:ext cx="1645920" cy="1234440"/>
          </a:xfrm>
          <a:prstGeom prst="roundRect">
            <a:avLst>
              <a:gd name="adj" fmla="val 5926"/>
            </a:avLst>
          </a:prstGeom>
          <a:solidFill>
            <a:srgbClr val="0F2044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32918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C846"/>
                </a:solidFill>
              </a:rPr>
              <a:t>100+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385876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</a:rPr>
              <a:t>texnika birligi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94560" y="3246120"/>
            <a:ext cx="1645920" cy="1234440"/>
          </a:xfrm>
          <a:prstGeom prst="roundRect">
            <a:avLst>
              <a:gd name="adj" fmla="val 5926"/>
            </a:avLst>
          </a:prstGeom>
          <a:solidFill>
            <a:srgbClr val="0F2044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94560" y="32918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C846"/>
                </a:solidFill>
              </a:rPr>
              <a:t>15%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194560" y="385876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</a:rPr>
              <a:t>yoqilg'i tejamkorligi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23360" y="3246120"/>
            <a:ext cx="1645920" cy="1234440"/>
          </a:xfrm>
          <a:prstGeom prst="roundRect">
            <a:avLst>
              <a:gd name="adj" fmla="val 5926"/>
            </a:avLst>
          </a:prstGeom>
          <a:solidFill>
            <a:srgbClr val="0F2044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023360" y="32918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C846"/>
                </a:solidFill>
              </a:rPr>
              <a:t>5 min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023360" y="385876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</a:rPr>
              <a:t>avtomatik hisobot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0" y="46634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Versiya 1.0  |  2026-yil iyun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Joriy holat va muammo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Texnaz AI  |  Ko'prikqurilish AJ  | 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914400"/>
            <a:ext cx="411480" cy="4114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9144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Mavjud muammolar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417320"/>
            <a:ext cx="3794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Yoqilg'i sarfi qo'lda daftarga qayd etiladi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Oylik hisobotlar kechikib taqdim etiladi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Me'yordan ortiq sarflanish kech aniqlanadi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Texnik nosozliklar (sızıntı, dvigatel) erta topilmaydi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Haydovchilarning bo'sh ishlash odati nazorat qilinmaydi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Tarixiy ma'lumotlar yagona bazada saqlanmaydi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822960"/>
            <a:ext cx="4114800" cy="3931920"/>
          </a:xfrm>
          <a:prstGeom prst="roundRect">
            <a:avLst>
              <a:gd name="adj" fmla="val 1860"/>
            </a:avLst>
          </a:prstGeom>
          <a:solidFill>
            <a:srgbClr val="E8F7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914400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9144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Texnaz AI yechimi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1417320"/>
            <a:ext cx="3794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Real vaqt monitoring – har 1 daqiqada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Sun'iy intellekt asosida anomaliya aniqlash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Avtomatik ogohlantirish tizimi (SMS / Telegram)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Predictive Maintenance – texnik xizmat prognozi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Haydovchilar reytingi va tahlili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Dashboard va avtomatik PDF/Excel hisobotlar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Kutilayotgan iqtisodiy samara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Texnaz AI  |  Ko'prikqurilish AJ  | 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87552"/>
            <a:ext cx="320040" cy="1371600"/>
          </a:xfrm>
          <a:prstGeom prst="roundRect">
            <a:avLst>
              <a:gd name="adj" fmla="val 1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9875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Yoqilg'i tejamkorligi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3716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</a:rPr>
              <a:t>10–15%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190195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Bo'sh ishlash va ortiq sarflanishni kamaytirish orqali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822960"/>
            <a:ext cx="4114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18888" y="987552"/>
            <a:ext cx="320040" cy="1371600"/>
          </a:xfrm>
          <a:prstGeom prst="roundRect">
            <a:avLst>
              <a:gd name="adj" fmla="val 11429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57800" y="9875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Ta'mirlash xarajatlari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13716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7B6"/>
                </a:solidFill>
              </a:rPr>
              <a:t>20–30%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257800" y="190195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Erta aniqlash tufayli kamayish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743200"/>
            <a:ext cx="4114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2907792"/>
            <a:ext cx="320040" cy="1371600"/>
          </a:xfrm>
          <a:prstGeom prst="roundRect">
            <a:avLst>
              <a:gd name="adj" fmla="val 11429"/>
            </a:avLst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9077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Hisobot vaqti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2918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C846"/>
                </a:solidFill>
              </a:rPr>
              <a:t>8–10 soat → 5 daqiqa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2960" y="382219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Qo'ldan avtomatik hisobotga o'tish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743200"/>
            <a:ext cx="4114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18888" y="2907792"/>
            <a:ext cx="320040" cy="1371600"/>
          </a:xfrm>
          <a:prstGeom prst="roundRect">
            <a:avLst>
              <a:gd name="adj" fmla="val 1142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29077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Texnika samaradorligi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57800" y="32918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</a:rPr>
              <a:t>+5–8%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257800" y="382219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Ish vaqti koeffitsientining oshishi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Funksional talablar – 6 ta modul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Texnaz AI  |  Ko'prikqurilish AJ  | 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27889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41832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41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0392" y="94183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Real vaqt monitoring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46304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GPS/GLONASS, yoqilg'i sensorlari, RPM, harorat, idle time, offline-sync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54680" y="804672"/>
            <a:ext cx="27889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941832"/>
            <a:ext cx="384048" cy="38404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941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76472" y="94183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Me'yorlar bazasi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146304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Har texnika uchun me'yor + ob-havo, rel'ef, yosh bo'yicha tuzatish koeffitsientlari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0760" y="804672"/>
            <a:ext cx="27889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941832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941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02552" y="94183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Tahlil va prognoz (AI)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146304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ML: sarfni 7/30/90 kunga prognoz, anomaliya aniqlash, predictive maintenance, haydovchilar reytingi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2724912"/>
            <a:ext cx="27889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862072"/>
            <a:ext cx="384048" cy="38404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0392" y="28620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Ogohlantirish tizimi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338328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≥10% chetlanish – sariq; ≥20% – qizil + SMS/Telegram; sızıntı darhol xabar; ta'mirlash murojaat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154680" y="2724912"/>
            <a:ext cx="27889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91840" y="2862072"/>
            <a:ext cx="384048" cy="38404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776472" y="28620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Hisobotlar va Dashboard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91840" y="338328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Xaritada real vaqt, kunlik/haftalik/oylik PDF va Excel, KPI panel, eksport funksiyasi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80760" y="2724912"/>
            <a:ext cx="27889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2862072"/>
            <a:ext cx="384048" cy="38404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02552" y="28620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Foydalanuvchilar va huquqlar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17920" y="338328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5 ta rol: Super Admin, Menejer, Operator, Haydovchi, Rahbariyat – RBAC tizimi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Texnik arxitektura – Mikroservis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Texnaz AI  |  Ko'prikqurilish AJ  | 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2103120" cy="38404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77724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777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IoT qatlami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1353312"/>
            <a:ext cx="19202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GPS/GLONASS tracker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Yoqilg'i sensori (CAN-bus)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4G/LTE modul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Offline buffer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31720" y="777240"/>
            <a:ext cx="2103120" cy="38404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31720" y="77724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777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Backend qatlami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23160" y="1353312"/>
            <a:ext cx="19202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Python / FastAPI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PostgreSQL + TimescaleDB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Redis cache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RabbitMQ / Kafka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34840" y="777240"/>
            <a:ext cx="2103120" cy="38404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34840" y="77724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777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AI / ML qatlami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26280" y="1353312"/>
            <a:ext cx="19202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XGBoost / LSTM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Isolation Forest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ONNX Runtime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Auto fine-tuning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37960" y="777240"/>
            <a:ext cx="2103120" cy="38404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37960" y="77724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777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Frontend qatlami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629400" y="1353312"/>
            <a:ext cx="19202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React.js / Next.js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React Native iOS/Android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Responsive SPA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Dark/Light mode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67128" y="2743200"/>
            <a:ext cx="16459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ysDash"/>
          </a:ln>
        </p:spPr>
      </p:sp>
      <p:sp>
        <p:nvSpPr>
          <p:cNvPr id="23" name="Shape 21"/>
          <p:cNvSpPr/>
          <p:nvPr/>
        </p:nvSpPr>
        <p:spPr>
          <a:xfrm>
            <a:off x="4270248" y="2743200"/>
            <a:ext cx="16459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ysDash"/>
          </a:ln>
        </p:spPr>
      </p:sp>
      <p:sp>
        <p:nvSpPr>
          <p:cNvPr id="24" name="Shape 22"/>
          <p:cNvSpPr/>
          <p:nvPr/>
        </p:nvSpPr>
        <p:spPr>
          <a:xfrm>
            <a:off x="6373368" y="2743200"/>
            <a:ext cx="16459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ysDash"/>
          </a:ln>
        </p:spPr>
      </p:sp>
      <p:sp>
        <p:nvSpPr>
          <p:cNvPr id="25" name="Text 23"/>
          <p:cNvSpPr/>
          <p:nvPr/>
        </p:nvSpPr>
        <p:spPr>
          <a:xfrm>
            <a:off x="228600" y="46634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Integratsiya: 1C:Buxgalteriya • E-Ombor • OpenStreetMap / Yandex Maps • Telegram Bot API • OpenAPI 3.0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Sun'iy intellekt moduli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Texnaz AI  |  Ko'prikqurilish AJ  | 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2834640" cy="39319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04672"/>
            <a:ext cx="2834640" cy="548640"/>
          </a:xfrm>
          <a:prstGeom prst="roundRect">
            <a:avLst>
              <a:gd name="adj" fmla="val 1333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046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Prognoz modeli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42646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00B4D8"/>
                </a:solidFill>
              </a:rPr>
              <a:t>XGBoost / LSTM neyron tarmog'i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901952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Kirish: texnika turi, yoshi, ob-havo, rel'ef, tarixiy sarflanish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Chiqish: 7, 30, 90 kunlik prognoz (±5% aniqlik)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Har oyda avtomatik fine-tuning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804672"/>
            <a:ext cx="2834640" cy="39319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804672"/>
            <a:ext cx="2834640" cy="54864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8046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Anomaliya aniqlash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142646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7C3AED"/>
                </a:solidFill>
              </a:rPr>
              <a:t>Isolation Forest / Autoencoder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83280" y="1901952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Har texnika uchun alohida normal xulq-atvor profili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Real vaqtda har o'lchov uchun anomaliya bali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False positive darajasi: ≤5%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804672"/>
            <a:ext cx="2834640" cy="39319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804672"/>
            <a:ext cx="2834640" cy="548640"/>
          </a:xfrm>
          <a:prstGeom prst="roundRect">
            <a:avLst>
              <a:gd name="adj" fmla="val 13333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8046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Predictive Maintenance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142646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F97316"/>
                </a:solidFill>
              </a:rPr>
              <a:t>Vaqt qatorlari regressiyasi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55080" y="1901952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Dvigatel holati, yoqilg'i sarfi, RPM tahlili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Texnik xizmat vaqtini prognoz qilish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Qoliq resurs (km / mashina soati) grafik ko'rsatish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Foydalanuvchilar va huquqlar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Texnaz AI  |  Ko'prikqurilish AJ  | 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86868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1508760" cy="493776"/>
          </a:xfrm>
          <a:prstGeom prst="roundRect">
            <a:avLst>
              <a:gd name="adj" fmla="val 11111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14400"/>
            <a:ext cx="1508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Super Admin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9326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AKT bo'limi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0" y="93268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Barcha funksiyalar, tizim sozlamalari, foydalanuvchilar boshqaruvi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1591056"/>
            <a:ext cx="86868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682496"/>
            <a:ext cx="1508760" cy="493776"/>
          </a:xfrm>
          <a:prstGeom prst="roundRect">
            <a:avLst>
              <a:gd name="adj" fmla="val 11111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82496"/>
            <a:ext cx="1508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Menejer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170078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Mexanizatsiya bo'limi boshlig'i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97680" y="170078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Barcha hisobotlar, texnika parki boshqaruvi, ogohlantirish sozlamalari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2359152"/>
            <a:ext cx="86868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450592"/>
            <a:ext cx="1508760" cy="493776"/>
          </a:xfrm>
          <a:prstGeom prst="roundRect">
            <a:avLst>
              <a:gd name="adj" fmla="val 11111"/>
            </a:avLst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50592"/>
            <a:ext cx="1508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Operator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Dispetcher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297680" y="24688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Real vaqt monitoring, ogohlantirish qabul qilish, kunlik hisobotlar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3127248"/>
            <a:ext cx="86868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218688"/>
            <a:ext cx="1508760" cy="493776"/>
          </a:xfrm>
          <a:prstGeom prst="roundRect">
            <a:avLst>
              <a:gd name="adj" fmla="val 11111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218688"/>
            <a:ext cx="1508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Haydovchi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20240" y="323697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Texnika haydovchisi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297680" y="323697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Mobil ilovada o'z texnikasi ko'rsatkichlari, yo'riqnomalar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28600" y="3895344"/>
            <a:ext cx="86868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986784"/>
            <a:ext cx="1508760" cy="493776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986784"/>
            <a:ext cx="1508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Rahbariyat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920240" y="40050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Boshqaruv raisi, o'rinbosarlar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297680" y="400507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Umumiy hisobotlar, KPI panel, tahliliy xulosalar (faqat o'qish)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20040" y="71323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ROL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20240" y="7132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BO'LIM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97680" y="71323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HUQUQLAR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Joriy etish bosqichlari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Texnaz AI  |  Ko'prikqurilish AJ  | 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77240" y="2514600"/>
            <a:ext cx="7589520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2377440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2377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804672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0" y="804672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8046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Tayyorgarlik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0" y="11887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27-hafta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0" y="1463040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Me'yorlar bazasi, sensorlar o'rnatish, server sozlash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656332" y="2377440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6332" y="2377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97380" y="292608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97380" y="292608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97380" y="2926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Pilot sinov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97380" y="33101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28–29-hafta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97380" y="3584448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Tanlangan obyektlarda ishga tushirish va monitoring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53712" y="2377440"/>
            <a:ext cx="347472" cy="3474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53712" y="2377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794760" y="804672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94760" y="804672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94760" y="8046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Tahlil va baholash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794760" y="11887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30-hafta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794760" y="1463040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Sinov natijalari, ML modeli o'qitish, takomillashtirish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451092" y="2377440"/>
            <a:ext cx="347472" cy="347472"/>
          </a:xfrm>
          <a:prstGeom prst="ellipse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51092" y="2377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92140" y="292608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692140" y="292608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92140" y="2926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Kengaytirish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92140" y="33101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C846"/>
                </a:solidFill>
              </a:rPr>
              <a:t>31–35-hafta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92140" y="3584448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Barcha hududiy bo'linmalarga bosqichma-bosqich joriy etish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348472" y="2377440"/>
            <a:ext cx="347472" cy="3474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48472" y="2377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589520" y="804672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589520" y="804672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8046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To'liq ishga tushirish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589520" y="11887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36-hafta+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589520" y="1463040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Barcha texnika parki, xodimlarni o'qitish, texnik qo'llab-quvvatlash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Tizimni qabul qilish mezonlari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Texnaz AI  |  Ko'prikqurilish AJ  | 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2834640" cy="39319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04672"/>
            <a:ext cx="2834640" cy="530352"/>
          </a:xfrm>
          <a:prstGeom prst="roundRect">
            <a:avLst>
              <a:gd name="adj" fmla="val 1379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80467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Funksional qabul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426464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Barcha 6 ta modul to'liq ishlaydi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≥10% chetlanish ogohlantirishlari ≤30 soniyada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Avtomatik hisobotlar belgilangan vaqtda PDF/Excel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Foydalanuvchi rollari va RBAC to'g'ri ishlaydi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804672"/>
            <a:ext cx="2834640" cy="39319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804672"/>
            <a:ext cx="2834640" cy="530352"/>
          </a:xfrm>
          <a:prstGeom prst="roundRect">
            <a:avLst>
              <a:gd name="adj" fmla="val 13793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80467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Texnik qabul (Load/Stress test)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426464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Load test: 100 foydalanuvchida ≤3 soniya yuklanish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Stress test: 200 sensor oqimida barqaror ishlash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Uptime test: 72 soatlik uzluksiz ishlash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Security: OWASP Top 10 kritik zaiflik topilmaydi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63640" y="804672"/>
            <a:ext cx="2834640" cy="39319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804672"/>
            <a:ext cx="2834640" cy="530352"/>
          </a:xfrm>
          <a:prstGeom prst="roundRect">
            <a:avLst>
              <a:gd name="adj" fmla="val 1379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80467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Foydalanuvchi qabul qilishi (UAT)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1426464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Mexanizatsiya xodimlari mustaqil boshqara oladi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Rahbariyat hisobotlardan qaror qabul qila oladi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Haydovchilar mobil ilovadan mustaqil foydalana oladi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Axborot xavfsizligi va ishlash ko'rsatkichlari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Texnaz AI  |  Ko'prikqurilish AJ  | 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41148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04672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80467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Xavfsizlik talablari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389888"/>
            <a:ext cx="3794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TLS 1.2+ shifrlanishi barcha ma'lumot uzatishda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BCrypt / Argon2 parol xeshlash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JWT: access 15 daqiqa / refresh 30 kun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Ikki bosqichli autentifikatsiya (2FA) – muhim rollar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RBAC – faqat o'z roli ma'lumotlariga kirish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Audit trail loglar – 1 yil saqlanadi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SQL Injection, XSS, CSRF dan himoya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O'zbekiston «Shaxsiy ma'lumotlar» qonuniga moslik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804672"/>
            <a:ext cx="41148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804672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80467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Ishlash ko'rsatkichlari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417320"/>
            <a:ext cx="3840480" cy="420624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44475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Sensor kechikishi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0" y="144475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77B6"/>
                </a:solidFill>
              </a:rPr>
              <a:t>≤ 5 soniya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938528"/>
            <a:ext cx="3840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965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Dashboard yuklanish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1965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77B6"/>
                </a:solidFill>
              </a:rPr>
              <a:t>≤ 3 soniya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459736"/>
            <a:ext cx="3840480" cy="420624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4871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Tizim uptime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0" y="248716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77B6"/>
                </a:solidFill>
              </a:rPr>
              <a:t>≥ 99.5%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980944"/>
            <a:ext cx="3840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00837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Bir vaqtda foydalanuvchilar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300837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77B6"/>
                </a:solidFill>
              </a:rPr>
              <a:t>≥ 100 ta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502152"/>
            <a:ext cx="3840480" cy="420624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52958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Ma'lumot saqlash muddati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0" y="352958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77B6"/>
                </a:solidFill>
              </a:rPr>
              <a:t>≥ 5 yil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4023360"/>
            <a:ext cx="3840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40507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Backup rotatsiyasi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0" y="405079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77B6"/>
                </a:solidFill>
              </a:rPr>
              <a:t>Har kuni / 30 kun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4D8"/>
                </a:solidFill>
              </a:rPr>
              <a:t>JAMOA VA KEYINGI QADAMLAR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F2044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932688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795528"/>
            <a:ext cx="2057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Loyiha rahbari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197864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</a:rPr>
              <a:t>AKT bo'limi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6858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F2044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932688"/>
            <a:ext cx="384048" cy="38404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795528"/>
            <a:ext cx="2057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Texnik direktor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94760" y="1197864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</a:rPr>
              <a:t>AKT bo'limi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6858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F2044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36208" y="93268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795528"/>
            <a:ext cx="2057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Backend ishlab chiquvchi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20840" y="1197864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</a:rPr>
              <a:t>AKT bo'limi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173736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F2044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1984248"/>
            <a:ext cx="384048" cy="38404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1847088"/>
            <a:ext cx="2057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Frontend ishlab chiquvchi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2249424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</a:rPr>
              <a:t>AKT bo'limi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0" y="173736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F2044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10128" y="1984248"/>
            <a:ext cx="384048" cy="384048"/>
          </a:xfrm>
          <a:prstGeom prst="ellipse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94760" y="1847088"/>
            <a:ext cx="2057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IoT muhandisi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94760" y="2249424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</a:rPr>
              <a:t>AKT bo'limi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173736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F2044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36208" y="1984248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1847088"/>
            <a:ext cx="2057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Buyurtmachi vakili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20840" y="2249424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</a:rPr>
              <a:t>Mexanizatsiya bo'limi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2880360"/>
            <a:ext cx="8595360" cy="1554480"/>
          </a:xfrm>
          <a:prstGeom prst="roundRect">
            <a:avLst>
              <a:gd name="adj" fmla="val 4706"/>
            </a:avLst>
          </a:prstGeom>
          <a:solidFill>
            <a:srgbClr val="0F2044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29718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C846"/>
                </a:solidFill>
              </a:rPr>
              <a:t>Keyingi qadam: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33375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Texnik topshiriqni tasdiqlash va loyiha yo'l xaritasini belgilash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IoT sensorlarni 27-haftada o'rnatishni boshlash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Pilot sinov uchun 5–10 texnika birligi tanlash (28-hafta)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" y="466344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Tasdiqlovchi: Z.I. Axatov – Boshqaruv raisi o'rinbosari  |  2026-yil iyun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Texnaz AI – Texnik Topshiriq Prezentatsiyasi</dc:title>
  <dc:subject>PptxGenJS Presentation</dc:subject>
  <dc:creator>Ko'prikqurilish AJ</dc:creator>
  <cp:lastModifiedBy>Ko'prikqurilish AJ</cp:lastModifiedBy>
  <cp:revision>1</cp:revision>
  <dcterms:created xsi:type="dcterms:W3CDTF">2026-06-23T06:43:12Z</dcterms:created>
  <dcterms:modified xsi:type="dcterms:W3CDTF">2026-06-23T06:43:12Z</dcterms:modified>
</cp:coreProperties>
</file>